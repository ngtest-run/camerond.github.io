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
      <p:font typeface="Maven Pro"/>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7" Type="http://schemas.openxmlformats.org/officeDocument/2006/relationships/font" Target="fonts/MavenPro-bold.fntdata"/><Relationship Id="rId16" Type="http://schemas.openxmlformats.org/officeDocument/2006/relationships/font" Target="fonts/MavenP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19f2552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19f2552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19f25524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b19f25524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b19f25524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b19f25524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19f25524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b19f25524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19f25524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b19f25524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43959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Marketing Analytics Portfolio Project</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Cameron Dace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Overview</a:t>
            </a:r>
            <a:endParaRPr/>
          </a:p>
        </p:txBody>
      </p:sp>
      <p:sp>
        <p:nvSpPr>
          <p:cNvPr id="284" name="Google Shape;284;p14"/>
          <p:cNvSpPr txBox="1"/>
          <p:nvPr>
            <p:ph idx="1" type="body"/>
          </p:nvPr>
        </p:nvSpPr>
        <p:spPr>
          <a:xfrm>
            <a:off x="311675" y="1404925"/>
            <a:ext cx="3568500" cy="3416400"/>
          </a:xfrm>
          <a:prstGeom prst="rect">
            <a:avLst/>
          </a:prstGeom>
        </p:spPr>
        <p:txBody>
          <a:bodyPr anchorCtr="0" anchor="t" bIns="91425" lIns="91425" spcFirstLastPara="1" rIns="91425" wrap="square" tIns="91425">
            <a:normAutofit fontScale="85000"/>
          </a:bodyPr>
          <a:lstStyle/>
          <a:p>
            <a:pPr indent="-298767" lvl="0" marL="457200" rtl="0" algn="l">
              <a:spcBef>
                <a:spcPts val="0"/>
              </a:spcBef>
              <a:spcAft>
                <a:spcPts val="0"/>
              </a:spcAft>
              <a:buSzPct val="100000"/>
              <a:buChar char="●"/>
            </a:pPr>
            <a:r>
              <a:rPr lang="en-GB"/>
              <a:t>The conversion rate demonstrated a strong rebound in december, reaching 11.4%, despite a </a:t>
            </a:r>
            <a:r>
              <a:rPr lang="en-GB"/>
              <a:t>noticeable</a:t>
            </a:r>
            <a:r>
              <a:rPr lang="en-GB"/>
              <a:t> dip to 6.1% in October.</a:t>
            </a:r>
            <a:endParaRPr/>
          </a:p>
          <a:p>
            <a:pPr indent="-298767" lvl="0" marL="457200" rtl="0" algn="l">
              <a:spcBef>
                <a:spcPts val="0"/>
              </a:spcBef>
              <a:spcAft>
                <a:spcPts val="0"/>
              </a:spcAft>
              <a:buSzPct val="100000"/>
              <a:buChar char="●"/>
            </a:pPr>
            <a:r>
              <a:rPr lang="en-GB"/>
              <a:t>There is a decline in overall </a:t>
            </a:r>
            <a:r>
              <a:rPr lang="en-GB"/>
              <a:t>social</a:t>
            </a:r>
            <a:r>
              <a:rPr lang="en-GB"/>
              <a:t> media engagement, with view dropping </a:t>
            </a:r>
            <a:r>
              <a:rPr lang="en-GB"/>
              <a:t>throughout</a:t>
            </a:r>
            <a:r>
              <a:rPr lang="en-GB"/>
              <a:t> the year.</a:t>
            </a:r>
            <a:endParaRPr/>
          </a:p>
          <a:p>
            <a:pPr indent="-298767" lvl="0" marL="457200" rtl="0" algn="l">
              <a:spcBef>
                <a:spcPts val="0"/>
              </a:spcBef>
              <a:spcAft>
                <a:spcPts val="0"/>
              </a:spcAft>
              <a:buSzPct val="100000"/>
              <a:buChar char="●"/>
            </a:pPr>
            <a:r>
              <a:rPr lang="en-GB"/>
              <a:t>While clicks and likes are low </a:t>
            </a:r>
            <a:r>
              <a:rPr lang="en-GB"/>
              <a:t>compared</a:t>
            </a:r>
            <a:r>
              <a:rPr lang="en-GB"/>
              <a:t> to views, the click-through rate stands at 19.66%, meaning that </a:t>
            </a:r>
            <a:r>
              <a:rPr lang="en-GB"/>
              <a:t>engaged users are still interacting effectively.</a:t>
            </a:r>
            <a:endParaRPr/>
          </a:p>
          <a:p>
            <a:pPr indent="-298767" lvl="0" marL="457200" rtl="0" algn="l">
              <a:spcBef>
                <a:spcPts val="0"/>
              </a:spcBef>
              <a:spcAft>
                <a:spcPts val="0"/>
              </a:spcAft>
              <a:buSzPct val="100000"/>
              <a:buChar char="●"/>
            </a:pPr>
            <a:r>
              <a:rPr lang="en-GB"/>
              <a:t>Customer ratings have remained consistent, averaging around 3.7 throughout the year.</a:t>
            </a:r>
            <a:endParaRPr/>
          </a:p>
          <a:p>
            <a:pPr indent="-298767" lvl="0" marL="457200" rtl="0" algn="l">
              <a:spcBef>
                <a:spcPts val="0"/>
              </a:spcBef>
              <a:spcAft>
                <a:spcPts val="0"/>
              </a:spcAft>
              <a:buSzPct val="100000"/>
              <a:buChar char="●"/>
            </a:pPr>
            <a:r>
              <a:rPr lang="en-GB"/>
              <a:t>Although stable, the average rating is below the target of 4.0, suggesting a need to focus on improvements in customer satisfaction for products with a rating below 3.5.</a:t>
            </a:r>
            <a:endParaRPr/>
          </a:p>
        </p:txBody>
      </p:sp>
      <p:sp>
        <p:nvSpPr>
          <p:cNvPr id="285" name="Google Shape;285;p14"/>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6" name="Google Shape;286;p14" title="Screenshot 2025-12-19 114406.png"/>
          <p:cNvPicPr preferRelativeResize="0"/>
          <p:nvPr/>
        </p:nvPicPr>
        <p:blipFill rotWithShape="1">
          <a:blip r:embed="rId3">
            <a:alphaModFix/>
          </a:blip>
          <a:srcRect b="2496" l="0" r="832" t="0"/>
          <a:stretch/>
        </p:blipFill>
        <p:spPr>
          <a:xfrm>
            <a:off x="3946625" y="1325800"/>
            <a:ext cx="5089624" cy="3290450"/>
          </a:xfrm>
          <a:prstGeom prst="rect">
            <a:avLst/>
          </a:prstGeom>
          <a:noFill/>
          <a:ln>
            <a:noFill/>
          </a:ln>
        </p:spPr>
      </p:pic>
      <p:sp>
        <p:nvSpPr>
          <p:cNvPr id="287" name="Google Shape;287;p14"/>
          <p:cNvSpPr/>
          <p:nvPr/>
        </p:nvSpPr>
        <p:spPr>
          <a:xfrm>
            <a:off x="6428900" y="1597875"/>
            <a:ext cx="819300" cy="708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8" name="Google Shape;288;p14"/>
          <p:cNvCxnSpPr/>
          <p:nvPr/>
        </p:nvCxnSpPr>
        <p:spPr>
          <a:xfrm>
            <a:off x="8144425" y="2613975"/>
            <a:ext cx="728400" cy="174300"/>
          </a:xfrm>
          <a:prstGeom prst="straightConnector1">
            <a:avLst/>
          </a:prstGeom>
          <a:noFill/>
          <a:ln cap="flat" cmpd="sng" w="28575">
            <a:solidFill>
              <a:srgbClr val="FF0000"/>
            </a:solidFill>
            <a:prstDash val="solid"/>
            <a:round/>
            <a:headEnd len="med" w="med" type="none"/>
            <a:tailEnd len="med" w="med" type="triangle"/>
          </a:ln>
        </p:spPr>
      </p:cxnSp>
      <p:sp>
        <p:nvSpPr>
          <p:cNvPr id="289" name="Google Shape;289;p14"/>
          <p:cNvSpPr/>
          <p:nvPr/>
        </p:nvSpPr>
        <p:spPr>
          <a:xfrm>
            <a:off x="6523350" y="3868700"/>
            <a:ext cx="888300" cy="668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Decreased Conversion Rate</a:t>
            </a:r>
            <a:endParaRPr/>
          </a:p>
        </p:txBody>
      </p:sp>
      <p:sp>
        <p:nvSpPr>
          <p:cNvPr id="295" name="Google Shape;295;p15"/>
          <p:cNvSpPr txBox="1"/>
          <p:nvPr>
            <p:ph idx="1" type="body"/>
          </p:nvPr>
        </p:nvSpPr>
        <p:spPr>
          <a:xfrm>
            <a:off x="311700" y="1450750"/>
            <a:ext cx="3673200" cy="34164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0000"/>
              <a:buChar char="●"/>
            </a:pPr>
            <a:r>
              <a:rPr b="1" lang="en-GB"/>
              <a:t>General</a:t>
            </a:r>
            <a:r>
              <a:rPr b="1" lang="en-GB"/>
              <a:t> Conversion Trend</a:t>
            </a:r>
            <a:endParaRPr b="1"/>
          </a:p>
          <a:p>
            <a:pPr indent="-287972" lvl="1" marL="914400" rtl="0" algn="l">
              <a:spcBef>
                <a:spcPts val="0"/>
              </a:spcBef>
              <a:spcAft>
                <a:spcPts val="0"/>
              </a:spcAft>
              <a:buSzPct val="100000"/>
              <a:buChar char="○"/>
            </a:pPr>
            <a:r>
              <a:rPr lang="en-GB"/>
              <a:t>Throughout the year, conversion rates varied, with higher numbers of products converting in months like February and June. This suggests that while some products have strong seasonal peaks, there is potential to improve </a:t>
            </a:r>
            <a:r>
              <a:rPr lang="en-GB"/>
              <a:t>conversions</a:t>
            </a:r>
            <a:r>
              <a:rPr lang="en-GB"/>
              <a:t> in months gathering lower conversions with targeted interventions.</a:t>
            </a:r>
            <a:endParaRPr/>
          </a:p>
          <a:p>
            <a:pPr indent="-298767" lvl="0" marL="457200" rtl="0" algn="l">
              <a:spcBef>
                <a:spcPts val="0"/>
              </a:spcBef>
              <a:spcAft>
                <a:spcPts val="0"/>
              </a:spcAft>
              <a:buSzPct val="92857"/>
              <a:buChar char="●"/>
            </a:pPr>
            <a:r>
              <a:rPr b="1" lang="en-GB"/>
              <a:t>Lowest </a:t>
            </a:r>
            <a:r>
              <a:rPr b="1" lang="en-GB" sz="1400"/>
              <a:t>Conversion </a:t>
            </a:r>
            <a:r>
              <a:rPr b="1" lang="en-GB"/>
              <a:t>Months</a:t>
            </a:r>
            <a:endParaRPr b="1" sz="1400"/>
          </a:p>
          <a:p>
            <a:pPr indent="-287972" lvl="1" marL="914400" rtl="0" algn="l">
              <a:spcBef>
                <a:spcPts val="0"/>
              </a:spcBef>
              <a:spcAft>
                <a:spcPts val="0"/>
              </a:spcAft>
              <a:buSzPct val="100000"/>
              <a:buChar char="○"/>
            </a:pPr>
            <a:r>
              <a:rPr lang="en-GB"/>
              <a:t>October experienced the lowest conversion rate of 6.15%, with no products standing out significantly in terms of conversion. This indicates a potential need to revisit marketing strategies or promotions during this period to boost performance.</a:t>
            </a:r>
            <a:endParaRPr/>
          </a:p>
          <a:p>
            <a:pPr indent="-298767" lvl="0" marL="457200" rtl="0" algn="l">
              <a:spcBef>
                <a:spcPts val="0"/>
              </a:spcBef>
              <a:spcAft>
                <a:spcPts val="0"/>
              </a:spcAft>
              <a:buSzPct val="100000"/>
              <a:buChar char="●"/>
            </a:pPr>
            <a:r>
              <a:rPr b="1" lang="en-GB"/>
              <a:t>Highest Conversion Rates</a:t>
            </a:r>
            <a:endParaRPr b="1"/>
          </a:p>
          <a:p>
            <a:pPr indent="-287972" lvl="1" marL="914400" rtl="0" algn="l">
              <a:spcBef>
                <a:spcPts val="0"/>
              </a:spcBef>
              <a:spcAft>
                <a:spcPts val="0"/>
              </a:spcAft>
              <a:buSzPct val="100000"/>
              <a:buChar char="○"/>
            </a:pPr>
            <a:r>
              <a:rPr lang="en-GB"/>
              <a:t>January experienced the highest overall conversion rate of 17.31%, driven significantly by ski boots with a remarkable revenue of 100% conversion. This indicates a strong start to the year likely fueled by seasonal demand and effective strategies.</a:t>
            </a:r>
            <a:endParaRPr/>
          </a:p>
        </p:txBody>
      </p:sp>
      <p:sp>
        <p:nvSpPr>
          <p:cNvPr id="296" name="Google Shape;296;p1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7" name="Google Shape;297;p15" title="Screenshot 2025-12-19 114842.png"/>
          <p:cNvPicPr preferRelativeResize="0"/>
          <p:nvPr/>
        </p:nvPicPr>
        <p:blipFill rotWithShape="1">
          <a:blip r:embed="rId3">
            <a:alphaModFix/>
          </a:blip>
          <a:srcRect b="2623" l="1573" r="1320" t="2679"/>
          <a:stretch/>
        </p:blipFill>
        <p:spPr>
          <a:xfrm>
            <a:off x="4273750" y="1648000"/>
            <a:ext cx="4870250" cy="2883651"/>
          </a:xfrm>
          <a:prstGeom prst="rect">
            <a:avLst/>
          </a:prstGeom>
          <a:noFill/>
          <a:ln>
            <a:noFill/>
          </a:ln>
        </p:spPr>
      </p:pic>
      <p:sp>
        <p:nvSpPr>
          <p:cNvPr id="298" name="Google Shape;298;p15"/>
          <p:cNvSpPr/>
          <p:nvPr/>
        </p:nvSpPr>
        <p:spPr>
          <a:xfrm>
            <a:off x="7797575" y="1518225"/>
            <a:ext cx="374400" cy="301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15"/>
          <p:cNvSpPr/>
          <p:nvPr/>
        </p:nvSpPr>
        <p:spPr>
          <a:xfrm>
            <a:off x="4948100" y="1539825"/>
            <a:ext cx="374400" cy="2970300"/>
          </a:xfrm>
          <a:prstGeom prst="rect">
            <a:avLst/>
          </a:prstGeom>
          <a:noFill/>
          <a:ln cap="flat" cmpd="sng" w="2857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16" title="Screenshot 2025-12-19 115149.png"/>
          <p:cNvPicPr preferRelativeResize="0"/>
          <p:nvPr/>
        </p:nvPicPr>
        <p:blipFill rotWithShape="1">
          <a:blip r:embed="rId3">
            <a:alphaModFix/>
          </a:blip>
          <a:srcRect b="7004" l="1283" r="51711" t="5978"/>
          <a:stretch/>
        </p:blipFill>
        <p:spPr>
          <a:xfrm>
            <a:off x="4851025" y="1402775"/>
            <a:ext cx="3827726" cy="1645225"/>
          </a:xfrm>
          <a:prstGeom prst="rect">
            <a:avLst/>
          </a:prstGeom>
          <a:noFill/>
          <a:ln>
            <a:noFill/>
          </a:ln>
        </p:spPr>
      </p:pic>
      <p:sp>
        <p:nvSpPr>
          <p:cNvPr id="305" name="Google Shape;30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Reduced Customer Engagement</a:t>
            </a:r>
            <a:endParaRPr/>
          </a:p>
        </p:txBody>
      </p:sp>
      <p:sp>
        <p:nvSpPr>
          <p:cNvPr id="306" name="Google Shape;306;p16"/>
          <p:cNvSpPr txBox="1"/>
          <p:nvPr>
            <p:ph idx="1" type="body"/>
          </p:nvPr>
        </p:nvSpPr>
        <p:spPr>
          <a:xfrm>
            <a:off x="311700" y="1402775"/>
            <a:ext cx="4260300" cy="316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b="1" lang="en-GB"/>
              <a:t>Declining Views</a:t>
            </a:r>
            <a:endParaRPr b="1"/>
          </a:p>
          <a:p>
            <a:pPr indent="-298450" lvl="1" marL="914400" rtl="0" algn="l">
              <a:spcBef>
                <a:spcPts val="0"/>
              </a:spcBef>
              <a:spcAft>
                <a:spcPts val="0"/>
              </a:spcAft>
              <a:buSzPts val="1100"/>
              <a:buChar char="○"/>
            </a:pPr>
            <a:r>
              <a:rPr lang="en-GB"/>
              <a:t>Views peaked in January and April but declined there after indicating reduced </a:t>
            </a:r>
            <a:r>
              <a:rPr lang="en-GB"/>
              <a:t>audience</a:t>
            </a:r>
            <a:r>
              <a:rPr lang="en-GB"/>
              <a:t> engagement in the later half of the year.</a:t>
            </a:r>
            <a:endParaRPr/>
          </a:p>
          <a:p>
            <a:pPr indent="-311150" lvl="0" marL="457200" rtl="0" algn="l">
              <a:spcBef>
                <a:spcPts val="0"/>
              </a:spcBef>
              <a:spcAft>
                <a:spcPts val="0"/>
              </a:spcAft>
              <a:buSzPts val="1300"/>
              <a:buChar char="●"/>
            </a:pPr>
            <a:r>
              <a:rPr b="1" lang="en-GB"/>
              <a:t>Low Interaction Rates</a:t>
            </a:r>
            <a:endParaRPr b="1"/>
          </a:p>
          <a:p>
            <a:pPr indent="-298450" lvl="1" marL="914400" rtl="0" algn="l">
              <a:spcBef>
                <a:spcPts val="0"/>
              </a:spcBef>
              <a:spcAft>
                <a:spcPts val="0"/>
              </a:spcAft>
              <a:buSzPts val="1100"/>
              <a:buChar char="○"/>
            </a:pPr>
            <a:r>
              <a:rPr lang="en-GB"/>
              <a:t>Clicks and likes remained </a:t>
            </a:r>
            <a:r>
              <a:rPr lang="en-GB"/>
              <a:t>consistently</a:t>
            </a:r>
            <a:r>
              <a:rPr lang="en-GB"/>
              <a:t> low compared to views suggesting the need for more engaging content or stronger calls to action.</a:t>
            </a:r>
            <a:endParaRPr/>
          </a:p>
          <a:p>
            <a:pPr indent="-311150" lvl="0" marL="457200" rtl="0" algn="l">
              <a:spcBef>
                <a:spcPts val="0"/>
              </a:spcBef>
              <a:spcAft>
                <a:spcPts val="0"/>
              </a:spcAft>
              <a:buSzPts val="1300"/>
              <a:buChar char="●"/>
            </a:pPr>
            <a:r>
              <a:rPr b="1" lang="en-GB"/>
              <a:t>Content Type P</a:t>
            </a:r>
            <a:r>
              <a:rPr b="1" lang="en-GB"/>
              <a:t>erformance</a:t>
            </a:r>
            <a:endParaRPr b="1"/>
          </a:p>
          <a:p>
            <a:pPr indent="-298450" lvl="1" marL="914400" rtl="0" algn="l">
              <a:spcBef>
                <a:spcPts val="0"/>
              </a:spcBef>
              <a:spcAft>
                <a:spcPts val="0"/>
              </a:spcAft>
              <a:buSzPts val="1100"/>
              <a:buChar char="○"/>
            </a:pPr>
            <a:r>
              <a:rPr lang="en-GB"/>
              <a:t>Blog content drove the most views, especially in April and January, while social media and video content maintained steady but slightly lower engagement</a:t>
            </a:r>
            <a:endParaRPr/>
          </a:p>
        </p:txBody>
      </p:sp>
      <p:cxnSp>
        <p:nvCxnSpPr>
          <p:cNvPr id="307" name="Google Shape;307;p16"/>
          <p:cNvCxnSpPr/>
          <p:nvPr/>
        </p:nvCxnSpPr>
        <p:spPr>
          <a:xfrm>
            <a:off x="6880775" y="1691725"/>
            <a:ext cx="1459800" cy="269100"/>
          </a:xfrm>
          <a:prstGeom prst="straightConnector1">
            <a:avLst/>
          </a:prstGeom>
          <a:noFill/>
          <a:ln cap="flat" cmpd="sng" w="28575">
            <a:solidFill>
              <a:srgbClr val="FF0000"/>
            </a:solidFill>
            <a:prstDash val="solid"/>
            <a:round/>
            <a:headEnd len="med" w="med" type="none"/>
            <a:tailEnd len="med" w="med" type="triangle"/>
          </a:ln>
        </p:spPr>
      </p:cxnSp>
      <p:pic>
        <p:nvPicPr>
          <p:cNvPr id="308" name="Google Shape;308;p16" title="Screenshot 2025-12-19 115149.png"/>
          <p:cNvPicPr preferRelativeResize="0"/>
          <p:nvPr/>
        </p:nvPicPr>
        <p:blipFill rotWithShape="1">
          <a:blip r:embed="rId3">
            <a:alphaModFix/>
          </a:blip>
          <a:srcRect b="7030" l="49592" r="2202" t="5960"/>
          <a:stretch/>
        </p:blipFill>
        <p:spPr>
          <a:xfrm>
            <a:off x="4928000" y="3163475"/>
            <a:ext cx="3925451" cy="1645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Customer Feedback Analysis</a:t>
            </a:r>
            <a:endParaRPr/>
          </a:p>
        </p:txBody>
      </p:sp>
      <p:sp>
        <p:nvSpPr>
          <p:cNvPr id="314" name="Google Shape;314;p17"/>
          <p:cNvSpPr txBox="1"/>
          <p:nvPr>
            <p:ph idx="1" type="body"/>
          </p:nvPr>
        </p:nvSpPr>
        <p:spPr>
          <a:xfrm>
            <a:off x="321325" y="1354525"/>
            <a:ext cx="4250700" cy="34164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b="1" lang="en-GB"/>
              <a:t>Customer Ratings </a:t>
            </a:r>
            <a:r>
              <a:rPr b="1" lang="en-GB"/>
              <a:t>Distribution</a:t>
            </a:r>
            <a:endParaRPr b="1"/>
          </a:p>
          <a:p>
            <a:pPr indent="-293211" lvl="1" marL="914400" rtl="0" algn="l">
              <a:spcBef>
                <a:spcPts val="0"/>
              </a:spcBef>
              <a:spcAft>
                <a:spcPts val="0"/>
              </a:spcAft>
              <a:buSzPct val="100000"/>
              <a:buChar char="○"/>
            </a:pPr>
            <a:r>
              <a:rPr lang="en-GB"/>
              <a:t>The </a:t>
            </a:r>
            <a:r>
              <a:rPr lang="en-GB"/>
              <a:t>majority</a:t>
            </a:r>
            <a:r>
              <a:rPr lang="en-GB"/>
              <a:t> of customer reviews are in the higher rating with 409 reviews of 5 stars, indicating </a:t>
            </a:r>
            <a:r>
              <a:rPr lang="en-GB"/>
              <a:t>overall</a:t>
            </a:r>
            <a:r>
              <a:rPr lang="en-GB"/>
              <a:t> </a:t>
            </a:r>
            <a:r>
              <a:rPr lang="en-GB"/>
              <a:t>positive</a:t>
            </a:r>
            <a:r>
              <a:rPr lang="en-GB"/>
              <a:t> feedback. Lower ratings (1 - 2 stars) account for a smaller proportion, with  80 reviews of 1 star and 153 review of 2 star.</a:t>
            </a:r>
            <a:endParaRPr/>
          </a:p>
          <a:p>
            <a:pPr indent="-304958" lvl="0" marL="457200" rtl="0" algn="l">
              <a:spcBef>
                <a:spcPts val="0"/>
              </a:spcBef>
              <a:spcAft>
                <a:spcPts val="0"/>
              </a:spcAft>
              <a:buSzPct val="100000"/>
              <a:buChar char="●"/>
            </a:pPr>
            <a:r>
              <a:rPr b="1" lang="en-GB"/>
              <a:t>Sentiment Analysis</a:t>
            </a:r>
            <a:endParaRPr b="1"/>
          </a:p>
          <a:p>
            <a:pPr indent="-293211" lvl="1" marL="914400" rtl="0" algn="l">
              <a:spcBef>
                <a:spcPts val="0"/>
              </a:spcBef>
              <a:spcAft>
                <a:spcPts val="0"/>
              </a:spcAft>
              <a:buSzPct val="100000"/>
              <a:buChar char="○"/>
            </a:pPr>
            <a:r>
              <a:rPr lang="en-GB"/>
              <a:t>Positive sentiment dominates 840 reviews, reflecting a generally satisfied customer base. Negative sentiment is presented in 226 reviews with a smaller number of mixed and neutral sentiments suggesting some </a:t>
            </a:r>
            <a:r>
              <a:rPr lang="en-GB"/>
              <a:t>areas</a:t>
            </a:r>
            <a:r>
              <a:rPr lang="en-GB"/>
              <a:t> for </a:t>
            </a:r>
            <a:r>
              <a:rPr lang="en-GB"/>
              <a:t>improvement</a:t>
            </a:r>
            <a:r>
              <a:rPr lang="en-GB"/>
              <a:t> but overall strong customer approval.</a:t>
            </a:r>
            <a:endParaRPr/>
          </a:p>
          <a:p>
            <a:pPr indent="-304958" lvl="0" marL="457200" rtl="0" algn="l">
              <a:spcBef>
                <a:spcPts val="0"/>
              </a:spcBef>
              <a:spcAft>
                <a:spcPts val="0"/>
              </a:spcAft>
              <a:buSzPct val="100000"/>
              <a:buChar char="●"/>
            </a:pPr>
            <a:r>
              <a:rPr b="1" lang="en-GB"/>
              <a:t>Opportunity</a:t>
            </a:r>
            <a:r>
              <a:rPr b="1" lang="en-GB"/>
              <a:t> for </a:t>
            </a:r>
            <a:r>
              <a:rPr b="1" lang="en-GB"/>
              <a:t>improvement</a:t>
            </a:r>
            <a:endParaRPr b="1"/>
          </a:p>
          <a:p>
            <a:pPr indent="-293211" lvl="1" marL="914400" rtl="0" algn="l">
              <a:spcBef>
                <a:spcPts val="0"/>
              </a:spcBef>
              <a:spcAft>
                <a:spcPts val="0"/>
              </a:spcAft>
              <a:buSzPct val="100000"/>
              <a:buChar char="○"/>
            </a:pPr>
            <a:r>
              <a:rPr lang="en-GB"/>
              <a:t>The presence of mixed positive and mixed negative reviews suggest that these are </a:t>
            </a:r>
            <a:r>
              <a:rPr lang="en-GB"/>
              <a:t>opportunities</a:t>
            </a:r>
            <a:r>
              <a:rPr lang="en-GB"/>
              <a:t> to convert theses mixed </a:t>
            </a:r>
            <a:r>
              <a:rPr lang="en-GB"/>
              <a:t>experiences</a:t>
            </a:r>
            <a:r>
              <a:rPr lang="en-GB"/>
              <a:t> into more clearly positive ones, </a:t>
            </a:r>
            <a:r>
              <a:rPr lang="en-GB"/>
              <a:t>potentially</a:t>
            </a:r>
            <a:r>
              <a:rPr lang="en-GB"/>
              <a:t> boosting </a:t>
            </a:r>
            <a:r>
              <a:rPr lang="en-GB"/>
              <a:t>overall</a:t>
            </a:r>
            <a:r>
              <a:rPr lang="en-GB"/>
              <a:t> ratings. Addressing the more </a:t>
            </a:r>
            <a:r>
              <a:rPr lang="en-GB"/>
              <a:t>specific</a:t>
            </a:r>
            <a:r>
              <a:rPr lang="en-GB"/>
              <a:t> concerns in mixed </a:t>
            </a:r>
            <a:r>
              <a:rPr lang="en-GB"/>
              <a:t>review</a:t>
            </a:r>
            <a:r>
              <a:rPr lang="en-GB"/>
              <a:t> could elevate customer satisfaction.</a:t>
            </a:r>
            <a:endParaRPr/>
          </a:p>
        </p:txBody>
      </p:sp>
      <p:sp>
        <p:nvSpPr>
          <p:cNvPr id="315" name="Google Shape;315;p17"/>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6" name="Google Shape;316;p17" title="Screenshot 2025-12-19 115557.png"/>
          <p:cNvPicPr preferRelativeResize="0"/>
          <p:nvPr/>
        </p:nvPicPr>
        <p:blipFill rotWithShape="1">
          <a:blip r:embed="rId3">
            <a:alphaModFix/>
          </a:blip>
          <a:srcRect b="6432" l="1304" r="47353" t="4717"/>
          <a:stretch/>
        </p:blipFill>
        <p:spPr>
          <a:xfrm>
            <a:off x="5072300" y="1404700"/>
            <a:ext cx="3430501" cy="1676925"/>
          </a:xfrm>
          <a:prstGeom prst="rect">
            <a:avLst/>
          </a:prstGeom>
          <a:noFill/>
          <a:ln>
            <a:noFill/>
          </a:ln>
        </p:spPr>
      </p:pic>
      <p:pic>
        <p:nvPicPr>
          <p:cNvPr id="317" name="Google Shape;317;p17" title="Screenshot 2025-12-19 115557.png"/>
          <p:cNvPicPr preferRelativeResize="0"/>
          <p:nvPr/>
        </p:nvPicPr>
        <p:blipFill rotWithShape="1">
          <a:blip r:embed="rId3">
            <a:alphaModFix/>
          </a:blip>
          <a:srcRect b="7446" l="54900" r="2776" t="4633"/>
          <a:stretch/>
        </p:blipFill>
        <p:spPr>
          <a:xfrm>
            <a:off x="5072300" y="3124975"/>
            <a:ext cx="3377050" cy="1818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Goals and Action</a:t>
            </a:r>
            <a:endParaRPr/>
          </a:p>
        </p:txBody>
      </p:sp>
      <p:sp>
        <p:nvSpPr>
          <p:cNvPr id="323" name="Google Shape;323;p18"/>
          <p:cNvSpPr txBox="1"/>
          <p:nvPr>
            <p:ph idx="1" type="body"/>
          </p:nvPr>
        </p:nvSpPr>
        <p:spPr>
          <a:xfrm>
            <a:off x="311700" y="1393025"/>
            <a:ext cx="4121100" cy="3416400"/>
          </a:xfrm>
          <a:prstGeom prst="rect">
            <a:avLst/>
          </a:prstGeom>
        </p:spPr>
        <p:txBody>
          <a:bodyPr anchorCtr="0" anchor="t" bIns="91425" lIns="91425" spcFirstLastPara="1" rIns="91425" wrap="square" tIns="91425">
            <a:normAutofit fontScale="92500" lnSpcReduction="20000"/>
          </a:bodyPr>
          <a:lstStyle/>
          <a:p>
            <a:pPr indent="0" lvl="0" marL="457200" rtl="0" algn="l">
              <a:spcBef>
                <a:spcPts val="0"/>
              </a:spcBef>
              <a:spcAft>
                <a:spcPts val="0"/>
              </a:spcAft>
              <a:buNone/>
            </a:pPr>
            <a:r>
              <a:rPr b="1" lang="en-GB" sz="1616"/>
              <a:t>Goals</a:t>
            </a:r>
            <a:endParaRPr b="1" sz="1616"/>
          </a:p>
          <a:p>
            <a:pPr indent="-304958" lvl="0" marL="457200" rtl="0" algn="l">
              <a:spcBef>
                <a:spcPts val="1200"/>
              </a:spcBef>
              <a:spcAft>
                <a:spcPts val="0"/>
              </a:spcAft>
              <a:buSzPct val="100000"/>
              <a:buChar char="●"/>
            </a:pPr>
            <a:r>
              <a:rPr b="1" lang="en-GB"/>
              <a:t>Increase Conversion Rates</a:t>
            </a:r>
            <a:endParaRPr b="1"/>
          </a:p>
          <a:p>
            <a:pPr indent="-293211" lvl="1" marL="914400" rtl="0" algn="l">
              <a:spcBef>
                <a:spcPts val="0"/>
              </a:spcBef>
              <a:spcAft>
                <a:spcPts val="0"/>
              </a:spcAft>
              <a:buSzPct val="100000"/>
              <a:buChar char="○"/>
            </a:pPr>
            <a:r>
              <a:rPr b="1" lang="en-GB"/>
              <a:t>Goal:</a:t>
            </a:r>
            <a:r>
              <a:rPr lang="en-GB"/>
              <a:t> Identify </a:t>
            </a:r>
            <a:r>
              <a:rPr lang="en-GB"/>
              <a:t>factors impacting the conversion rate and provide recommendations to improve it. </a:t>
            </a:r>
            <a:endParaRPr/>
          </a:p>
          <a:p>
            <a:pPr indent="-293211" lvl="1" marL="914400" rtl="0" algn="l">
              <a:spcBef>
                <a:spcPts val="0"/>
              </a:spcBef>
              <a:spcAft>
                <a:spcPts val="0"/>
              </a:spcAft>
              <a:buSzPct val="100000"/>
              <a:buChar char="○"/>
            </a:pPr>
            <a:r>
              <a:rPr b="1" lang="en-GB"/>
              <a:t>Insight:</a:t>
            </a:r>
            <a:r>
              <a:rPr lang="en-GB"/>
              <a:t> Highlight stages where visitors drop off and suggest improvements to optimize the conversion funnel.</a:t>
            </a:r>
            <a:endParaRPr/>
          </a:p>
          <a:p>
            <a:pPr indent="-304958" lvl="0" marL="457200" rtl="0" algn="l">
              <a:spcBef>
                <a:spcPts val="0"/>
              </a:spcBef>
              <a:spcAft>
                <a:spcPts val="0"/>
              </a:spcAft>
              <a:buSzPct val="100000"/>
              <a:buChar char="●"/>
            </a:pPr>
            <a:r>
              <a:rPr b="1" lang="en-GB"/>
              <a:t>Increase Conversion Rates</a:t>
            </a:r>
            <a:endParaRPr b="1"/>
          </a:p>
          <a:p>
            <a:pPr indent="-293211" lvl="1" marL="914400" rtl="0" algn="l">
              <a:spcBef>
                <a:spcPts val="0"/>
              </a:spcBef>
              <a:spcAft>
                <a:spcPts val="0"/>
              </a:spcAft>
              <a:buSzPct val="100000"/>
              <a:buChar char="○"/>
            </a:pPr>
            <a:r>
              <a:rPr b="1" lang="en-GB"/>
              <a:t>Goal:</a:t>
            </a:r>
            <a:r>
              <a:rPr lang="en-GB"/>
              <a:t> Determine which types of content drive the highest engagement.</a:t>
            </a:r>
            <a:endParaRPr/>
          </a:p>
          <a:p>
            <a:pPr indent="-293211" lvl="1" marL="914400" rtl="0" algn="l">
              <a:spcBef>
                <a:spcPts val="0"/>
              </a:spcBef>
              <a:spcAft>
                <a:spcPts val="0"/>
              </a:spcAft>
              <a:buSzPct val="100000"/>
              <a:buChar char="○"/>
            </a:pPr>
            <a:r>
              <a:rPr b="1" lang="en-GB"/>
              <a:t>Insight:</a:t>
            </a:r>
            <a:r>
              <a:rPr lang="en-GB"/>
              <a:t> Analyze interaction levels with different types of marketing content to inform better content strategies.</a:t>
            </a:r>
            <a:endParaRPr/>
          </a:p>
          <a:p>
            <a:pPr indent="-304958" lvl="0" marL="457200" rtl="0" algn="l">
              <a:spcBef>
                <a:spcPts val="0"/>
              </a:spcBef>
              <a:spcAft>
                <a:spcPts val="0"/>
              </a:spcAft>
              <a:buSzPct val="100000"/>
              <a:buChar char="●"/>
            </a:pPr>
            <a:r>
              <a:rPr b="1" lang="en-GB"/>
              <a:t>Increase Conversion Rates</a:t>
            </a:r>
            <a:endParaRPr b="1"/>
          </a:p>
          <a:p>
            <a:pPr indent="-293211" lvl="1" marL="914400" rtl="0" algn="l">
              <a:spcBef>
                <a:spcPts val="0"/>
              </a:spcBef>
              <a:spcAft>
                <a:spcPts val="0"/>
              </a:spcAft>
              <a:buSzPct val="100000"/>
              <a:buChar char="○"/>
            </a:pPr>
            <a:r>
              <a:rPr b="1" lang="en-GB"/>
              <a:t>Goal:</a:t>
            </a:r>
            <a:r>
              <a:rPr lang="en-GB"/>
              <a:t> Understand common themes in customer reviews and provide actionable insights. </a:t>
            </a:r>
            <a:endParaRPr/>
          </a:p>
          <a:p>
            <a:pPr indent="-293211" lvl="1" marL="914400" rtl="0" algn="l">
              <a:spcBef>
                <a:spcPts val="0"/>
              </a:spcBef>
              <a:spcAft>
                <a:spcPts val="0"/>
              </a:spcAft>
              <a:buSzPct val="100000"/>
              <a:buChar char="○"/>
            </a:pPr>
            <a:r>
              <a:rPr b="1" lang="en-GB"/>
              <a:t>Insight:</a:t>
            </a:r>
            <a:r>
              <a:rPr lang="en-GB"/>
              <a:t> Identify recurring positive and negative reviews to guide product and service improvements.</a:t>
            </a:r>
            <a:endParaRPr/>
          </a:p>
        </p:txBody>
      </p:sp>
      <p:sp>
        <p:nvSpPr>
          <p:cNvPr id="324" name="Google Shape;324;p18"/>
          <p:cNvSpPr txBox="1"/>
          <p:nvPr>
            <p:ph idx="2" type="body"/>
          </p:nvPr>
        </p:nvSpPr>
        <p:spPr>
          <a:xfrm>
            <a:off x="4572000" y="1393025"/>
            <a:ext cx="4260300" cy="3416400"/>
          </a:xfrm>
          <a:prstGeom prst="rect">
            <a:avLst/>
          </a:prstGeom>
        </p:spPr>
        <p:txBody>
          <a:bodyPr anchorCtr="0" anchor="t" bIns="91425" lIns="91425" spcFirstLastPara="1" rIns="91425" wrap="square" tIns="91425">
            <a:normAutofit fontScale="77500" lnSpcReduction="20000"/>
          </a:bodyPr>
          <a:lstStyle/>
          <a:p>
            <a:pPr indent="0" lvl="0" marL="457200" rtl="0" algn="l">
              <a:spcBef>
                <a:spcPts val="0"/>
              </a:spcBef>
              <a:spcAft>
                <a:spcPts val="0"/>
              </a:spcAft>
              <a:buNone/>
            </a:pPr>
            <a:r>
              <a:rPr b="1" lang="en-GB" sz="1616"/>
              <a:t>Actions</a:t>
            </a:r>
            <a:endParaRPr b="1" sz="1616"/>
          </a:p>
          <a:p>
            <a:pPr indent="-292576" lvl="0" marL="457200" rtl="0" algn="l">
              <a:spcBef>
                <a:spcPts val="1200"/>
              </a:spcBef>
              <a:spcAft>
                <a:spcPts val="0"/>
              </a:spcAft>
              <a:buSzPct val="100000"/>
              <a:buChar char="●"/>
            </a:pPr>
            <a:r>
              <a:rPr b="1" lang="en-GB"/>
              <a:t>Increase Conversion Rates</a:t>
            </a:r>
            <a:endParaRPr b="1"/>
          </a:p>
          <a:p>
            <a:pPr indent="-282733" lvl="1" marL="914400" rtl="0" algn="l">
              <a:spcBef>
                <a:spcPts val="0"/>
              </a:spcBef>
              <a:spcAft>
                <a:spcPts val="0"/>
              </a:spcAft>
              <a:buSzPct val="100000"/>
              <a:buChar char="○"/>
            </a:pPr>
            <a:r>
              <a:rPr b="1" lang="en-GB"/>
              <a:t>Target high performing product categories: </a:t>
            </a:r>
            <a:r>
              <a:rPr lang="en-GB"/>
              <a:t>Focus marketing efforts on products that are demonstrating high conversion rates such as Ski boats, Basketball Gloves and Kayaks. Implement seasonal promotions or personalized </a:t>
            </a:r>
            <a:r>
              <a:rPr lang="en-GB"/>
              <a:t>campaigns</a:t>
            </a:r>
            <a:r>
              <a:rPr lang="en-GB"/>
              <a:t> during peak months (such as January and December) to capitalize on these trends.</a:t>
            </a:r>
            <a:endParaRPr/>
          </a:p>
          <a:p>
            <a:pPr indent="-292576" lvl="0" marL="457200" rtl="0" algn="l">
              <a:spcBef>
                <a:spcPts val="0"/>
              </a:spcBef>
              <a:spcAft>
                <a:spcPts val="0"/>
              </a:spcAft>
              <a:buSzPct val="100000"/>
              <a:buChar char="●"/>
            </a:pPr>
            <a:r>
              <a:rPr b="1" lang="en-GB"/>
              <a:t>Enhance Customer Engagement</a:t>
            </a:r>
            <a:endParaRPr b="1"/>
          </a:p>
          <a:p>
            <a:pPr indent="-282733" lvl="1" marL="914400" rtl="0" algn="l">
              <a:spcBef>
                <a:spcPts val="0"/>
              </a:spcBef>
              <a:spcAft>
                <a:spcPts val="0"/>
              </a:spcAft>
              <a:buSzPct val="100000"/>
              <a:buChar char="○"/>
            </a:pPr>
            <a:r>
              <a:rPr b="1" lang="en-GB"/>
              <a:t>Revitalize Content Strategy: </a:t>
            </a:r>
            <a:r>
              <a:rPr lang="en-GB"/>
              <a:t>to turn around declining views and low interaction rates, experiment with more engaging formats such as interactive videos or user-generated content. Additionally boost engagement by optimizing call-to-action placements in social media and blog content, particularly in lower engagement months (Decemebr and October)</a:t>
            </a:r>
            <a:endParaRPr/>
          </a:p>
          <a:p>
            <a:pPr indent="-292576" lvl="0" marL="457200" rtl="0" algn="l">
              <a:spcBef>
                <a:spcPts val="0"/>
              </a:spcBef>
              <a:spcAft>
                <a:spcPts val="0"/>
              </a:spcAft>
              <a:buSzPct val="100000"/>
              <a:buChar char="●"/>
            </a:pPr>
            <a:r>
              <a:rPr b="1" lang="en-GB"/>
              <a:t>Improve Customer Feedback Score</a:t>
            </a:r>
            <a:endParaRPr b="1"/>
          </a:p>
          <a:p>
            <a:pPr indent="-282733" lvl="1" marL="914400" rtl="0" algn="l">
              <a:spcBef>
                <a:spcPts val="0"/>
              </a:spcBef>
              <a:spcAft>
                <a:spcPts val="0"/>
              </a:spcAft>
              <a:buSzPct val="100000"/>
              <a:buChar char="○"/>
            </a:pPr>
            <a:r>
              <a:rPr b="1" lang="en-GB"/>
              <a:t>Address Mixed and Negative Feedback: </a:t>
            </a:r>
            <a:r>
              <a:rPr lang="en-GB"/>
              <a:t>Implement a feedback loop where mixed and negative reviews are analyzed to identify common issues. Develop improvement plans to address these concerns. Consider following up with dissatisfied customers to resolve issues and encourage re-rating, aiming to more average ratings to the 4.0 target.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